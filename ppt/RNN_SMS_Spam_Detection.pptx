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Replace the student name and roll number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Spam is a binary text-classification problem: every message is either spam or ham.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Downloaded automatically from the UCI Machine Learning Repository (Almeida &amp; Gomez Hidalgo, 2011).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 -&gt; recurrent layer -&gt; Dense -&gt; Sigmoid. The GRU is a gated recurrent layer; the best pure SimpleRNN reached 98.57% test accuracy (F1 0.9455).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training runs in total; the full results table is in 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from epoch 4 were restored by early stopping (dashed line). After that the training loss keeps falling while the validation loss rises, which is overfitting. Test confusion matrix: TN 724, FP 1, FN 7, TP 105.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come from the final run recorded in 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DEEP LEARNING STUDY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SMS Spam Detection using Recurrent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Classifying SMS messages as spam or ham with an Embedding → GRU → Dense → Sigmoid network in TensorFlow/Keras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6400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Name of the Student  |  23EG110XXX  |  CSE(DS)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Under the guidance of Dr P Rajeshwari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Department of CSE (Data Science), Anurag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2761"/>
                </a:solidFill>
                <a:latin typeface="Cambria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66928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28600">
              <a:spcAft>
                <a:spcPts val="1400"/>
              </a:spcAft>
              <a:buChar char="•"/>
            </a:pPr>
            <a:r>
              <a:rPr sz="1800" b="0">
                <a:solidFill>
                  <a:srgbClr val="1F2333"/>
                </a:solidFill>
                <a:latin typeface="Calibri"/>
              </a:rPr>
              <a:t>SMS spam (fake prizes, premium-rate numbers, phishing links) is a daily nuisance and a security risk</a:t>
            </a:r>
          </a:p>
          <a:p>
            <a:pPr algn="l" marL="274320" indent="-228600">
              <a:spcAft>
                <a:spcPts val="1400"/>
              </a:spcAft>
              <a:buChar char="•"/>
            </a:pPr>
            <a:r>
              <a:rPr sz="1800" b="0">
                <a:solidFill>
                  <a:srgbClr val="1F2333"/>
                </a:solidFill>
                <a:latin typeface="Calibri"/>
              </a:rPr>
              <a:t>Keyword filters are easy to bypass when spammers change their wording</a:t>
            </a:r>
          </a:p>
          <a:p>
            <a:pPr algn="l" marL="274320" indent="-228600">
              <a:spcAft>
                <a:spcPts val="1400"/>
              </a:spcAft>
              <a:buChar char="•"/>
            </a:pPr>
            <a:r>
              <a:rPr sz="1800" b="0">
                <a:solidFill>
                  <a:srgbClr val="1F2333"/>
                </a:solidFill>
                <a:latin typeface="Calibri"/>
              </a:rPr>
              <a:t>Goal: learn spam patterns from real labelled messages with a Recurrent Neural Network</a:t>
            </a:r>
          </a:p>
          <a:p>
            <a:pPr algn="l" marL="274320" indent="-228600">
              <a:spcAft>
                <a:spcPts val="1400"/>
              </a:spcAft>
              <a:buChar char="•"/>
            </a:pPr>
            <a:r>
              <a:rPr sz="1800" b="0">
                <a:solidFill>
                  <a:srgbClr val="1F2333"/>
                </a:solidFill>
                <a:latin typeface="Calibri"/>
              </a:rPr>
              <a:t>Output: a model that labels any SMS as SPAM or HAM, plus a prediction script</a:t>
            </a:r>
          </a:p>
          <a:p>
            <a:pPr algn="l" marL="274320" indent="-228600">
              <a:spcAft>
                <a:spcPts val="1400"/>
              </a:spcAft>
              <a:buChar char="•"/>
            </a:pPr>
            <a:r>
              <a:rPr sz="1800" b="0">
                <a:solidFill>
                  <a:srgbClr val="1F2333"/>
                </a:solidFill>
                <a:latin typeface="Calibri"/>
              </a:rPr>
              <a:t>Targets: test accuracy ≥ 95% and spam F1-score ≥ 0.90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463040"/>
            <a:ext cx="4937760" cy="205740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169164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148840"/>
            <a:ext cx="44805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“Free entry in 2 a wkly comp to win FA Cup final tkts 21st May 2005. Text FA to 87121 to receive entry question…”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749039"/>
            <a:ext cx="4937760" cy="160020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0" y="3977639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B7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434840"/>
            <a:ext cx="4480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33"/>
                </a:solidFill>
                <a:latin typeface="Calibri"/>
              </a:rPr>
              <a:t>“Ok lar... Joking wif u oni...”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48640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070"/>
                </a:solidFill>
                <a:latin typeface="Calibri"/>
              </a:rPr>
              <a:t>Real examples from the UCI SMS Spam Collection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2761"/>
                </a:solidFill>
                <a:latin typeface="Cambria"/>
              </a:rPr>
              <a:t>Dataset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27048"/>
            <a:ext cx="31546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1E2761"/>
                </a:solidFill>
                <a:latin typeface="Cambria"/>
              </a:rPr>
              <a:t>5,574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SMS messages – UCI SMS Spam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6" y="141732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7136" y="1527048"/>
            <a:ext cx="31546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1B7F4C"/>
                </a:solidFill>
                <a:latin typeface="Cambria"/>
              </a:rPr>
              <a:t>4,827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7136" y="219456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ham (legitimate) – 86.6%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1732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527048"/>
            <a:ext cx="31546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D94E1F"/>
                </a:solidFill>
                <a:latin typeface="Cambria"/>
              </a:rPr>
              <a:t>747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19456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spam – 13.4% (imbalanced)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576072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mbria"/>
              </a:rPr>
              <a:t>Preprocessing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700" b="0">
                <a:solidFill>
                  <a:srgbClr val="1F2333"/>
                </a:solidFill>
                <a:latin typeface="Calibri"/>
              </a:rPr>
              <a:t>Lowercase; URLs, e-mails, currency and numbers → placeholder words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700" b="0">
                <a:solidFill>
                  <a:srgbClr val="1F2333"/>
                </a:solidFill>
                <a:latin typeface="Calibri"/>
              </a:rPr>
              <a:t>Remove punctuation, tokenize (5,000-word vocabulary)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700" b="0">
                <a:solidFill>
                  <a:srgbClr val="1F2333"/>
                </a:solidFill>
                <a:latin typeface="Calibri"/>
              </a:rPr>
              <a:t>Pad / truncate to 50 tokens (covers 98.7% of messages)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700" b="0">
                <a:solidFill>
                  <a:srgbClr val="1F2333"/>
                </a:solidFill>
                <a:latin typeface="Calibri"/>
              </a:rPr>
              <a:t>Class weights to handle the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63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mbria"/>
              </a:rPr>
              <a:t>Stratified split (70 / 15 / 15)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675120" y="361188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109728" marR="109728"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Messages</a:t>
                      </a:r>
                    </a:p>
                  </a:txBody>
                  <a:tcPr marL="109728" marR="109728"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Spam</a:t>
                      </a:r>
                    </a:p>
                  </a:txBody>
                  <a:tcPr marL="109728" marR="109728" marT="36576" marB="36576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333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33"/>
                          </a:solidFill>
                          <a:latin typeface="Calibri"/>
                        </a:rPr>
                        <a:t>3,901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33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333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33"/>
                          </a:solidFill>
                          <a:latin typeface="Calibri"/>
                        </a:rPr>
                        <a:t>836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33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333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33"/>
                          </a:solidFill>
                          <a:latin typeface="Calibri"/>
                        </a:rPr>
                        <a:t>837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33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675120" y="55778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070"/>
                </a:solidFill>
                <a:latin typeface="Calibri"/>
              </a:rPr>
              <a:t>Tokenizer fitted on the training split only (no leakage)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2761"/>
                </a:solidFill>
                <a:latin typeface="Cambria"/>
              </a:rPr>
              <a:t>Model Architecture</a:t>
            </a:r>
          </a:p>
        </p:txBody>
      </p:sp>
      <p:sp>
        <p:nvSpPr>
          <p:cNvPr id="3" name="Layer Input"/>
          <p:cNvSpPr/>
          <p:nvPr/>
        </p:nvSpPr>
        <p:spPr>
          <a:xfrm>
            <a:off x="548640" y="1737360"/>
            <a:ext cx="1874519" cy="15544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38528"/>
            <a:ext cx="16916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mbria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6916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50 word 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1F2333"/>
                </a:solidFill>
                <a:latin typeface="Calibri"/>
              </a:rPr>
              <a:t>shape (50)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6732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0 params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87168" y="2331720"/>
            <a:ext cx="283464" cy="365760"/>
          </a:xfrm>
          <a:prstGeom prst="rightArrow">
            <a:avLst/>
          </a:prstGeom>
          <a:solidFill>
            <a:srgbClr val="D94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yer Embedding"/>
          <p:cNvSpPr/>
          <p:nvPr/>
        </p:nvSpPr>
        <p:spPr>
          <a:xfrm>
            <a:off x="2834640" y="1737360"/>
            <a:ext cx="1874519" cy="15544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38528"/>
            <a:ext cx="16916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mbria"/>
              </a:rPr>
              <a:t>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16916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5,000 × 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2900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1F2333"/>
                </a:solidFill>
                <a:latin typeface="Calibri"/>
              </a:rPr>
              <a:t>shape (50, 64)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6732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320,000 params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73168" y="2331720"/>
            <a:ext cx="283464" cy="365760"/>
          </a:xfrm>
          <a:prstGeom prst="rightArrow">
            <a:avLst/>
          </a:prstGeom>
          <a:solidFill>
            <a:srgbClr val="D94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yer GRU"/>
          <p:cNvSpPr/>
          <p:nvPr/>
        </p:nvSpPr>
        <p:spPr>
          <a:xfrm>
            <a:off x="5120640" y="1737360"/>
            <a:ext cx="1874519" cy="1554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1938528"/>
            <a:ext cx="16916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GRU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514600"/>
            <a:ext cx="16916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64 units, dropout 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42900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1F2333"/>
                </a:solidFill>
                <a:latin typeface="Calibri"/>
              </a:rPr>
              <a:t>shape (64)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76732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24,960 params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59168" y="2331720"/>
            <a:ext cx="283464" cy="365760"/>
          </a:xfrm>
          <a:prstGeom prst="rightArrow">
            <a:avLst/>
          </a:prstGeom>
          <a:solidFill>
            <a:srgbClr val="D94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ayer Dense"/>
          <p:cNvSpPr/>
          <p:nvPr/>
        </p:nvSpPr>
        <p:spPr>
          <a:xfrm>
            <a:off x="7406640" y="1737360"/>
            <a:ext cx="1874519" cy="15544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1938528"/>
            <a:ext cx="16916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mbria"/>
              </a:rPr>
              <a:t>Dense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514600"/>
            <a:ext cx="16916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32 ReLU + dropout 0.3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42900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1F2333"/>
                </a:solidFill>
                <a:latin typeface="Calibri"/>
              </a:rPr>
              <a:t>shape (32)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76732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2,080 params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45167" y="2331720"/>
            <a:ext cx="283464" cy="365760"/>
          </a:xfrm>
          <a:prstGeom prst="rightArrow">
            <a:avLst/>
          </a:prstGeom>
          <a:solidFill>
            <a:srgbClr val="D94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ayer Output"/>
          <p:cNvSpPr/>
          <p:nvPr/>
        </p:nvSpPr>
        <p:spPr>
          <a:xfrm>
            <a:off x="9692640" y="1737360"/>
            <a:ext cx="1874519" cy="15544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938528"/>
            <a:ext cx="16916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mbria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514600"/>
            <a:ext cx="16916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1 unit, Sigmoid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42900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1F2333"/>
                </a:solidFill>
                <a:latin typeface="Calibri"/>
              </a:rPr>
              <a:t>shape (1)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76732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33 params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48056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61772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2761"/>
                </a:solidFill>
                <a:latin typeface="Calibri"/>
              </a:rPr>
              <a:t>Spam probability ≥ 0.5 → SPAM, otherwise HAM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33"/>
                </a:solidFill>
                <a:latin typeface="Calibri"/>
              </a:rPr>
              <a:t>347,073 trainable parameters • the GRU reads the message word by word and its gates decide what to remember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333"/>
                </a:solidFill>
                <a:latin typeface="Calibri"/>
              </a:rPr>
              <a:t>Chosen from 6 attempts (SimpleRNN, LSTM, GRU) by the best validation F1-score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2761"/>
                </a:solidFill>
                <a:latin typeface="Cambria"/>
              </a:rPr>
              <a:t>Hyperparameters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583680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474720"/>
              </a:tblGrid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Hyperparameter</a:t>
                      </a:r>
                    </a:p>
                  </a:txBody>
                  <a:tcPr marL="109728" marR="109728"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9728" marR="109728" marT="36576" marB="36576" anchor="ctr"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Vocabulary size / sequence length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5,000 words / 50 tokens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Embedding dimension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Recurrent layer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GRU, 64 units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Dense layer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32 units, ReLU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Adam, lr 0.001, clipnorm 1.0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Binary cross-entropy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max 40 → stopped at 9, best epoch 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Early stopping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val_loss, patience 5, restore best</a:t>
                      </a:r>
                    </a:p>
                  </a:txBody>
                  <a:tcPr marL="109728" marR="109728" marT="36576" marB="36576" anchor="ctr">
                    <a:solidFill>
                      <a:srgbClr val="F1F4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33"/>
                          </a:solidFill>
                          <a:latin typeface="Calibri"/>
                        </a:rPr>
                        <a:t>Class weights (ham / spam)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333"/>
                          </a:solidFill>
                          <a:latin typeface="Calibri"/>
                        </a:rPr>
                        <a:t>0.577 / 1.865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371600"/>
            <a:ext cx="4023360" cy="471830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554480"/>
            <a:ext cx="356616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1E2761"/>
                </a:solidFill>
                <a:latin typeface="Cambria"/>
              </a:rPr>
              <a:t>How it was tuned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333"/>
                </a:solidFill>
                <a:latin typeface="Calibri"/>
              </a:rPr>
              <a:t>Baseline SimpleRNN overfitted (100% train accuracy, rising val loss)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333"/>
                </a:solidFill>
                <a:latin typeface="Calibri"/>
              </a:rPr>
              <a:t>Added dropout and early stopping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333"/>
                </a:solidFill>
                <a:latin typeface="Calibri"/>
              </a:rPr>
              <a:t>Lower learning rate and gradient clipping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333"/>
                </a:solidFill>
                <a:latin typeface="Calibri"/>
              </a:rPr>
              <a:t>Tried LSTM and GRU cells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600" b="0">
                <a:solidFill>
                  <a:srgbClr val="1F2333"/>
                </a:solidFill>
                <a:latin typeface="Calibri"/>
              </a:rPr>
              <a:t>Softened the spam class weight</a:t>
            </a:r>
          </a:p>
          <a:p>
            <a:pPr algn="l" marL="274320" indent="-228600">
              <a:spcAft>
                <a:spcPts val="1000"/>
              </a:spcAft>
              <a:buChar char="•"/>
            </a:pPr>
            <a:r>
              <a:rPr sz="1600" b="1">
                <a:solidFill>
                  <a:srgbClr val="1F2333"/>
                </a:solidFill>
                <a:latin typeface="Calibri"/>
              </a:rPr>
              <a:t>Best model picked on validation data, not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2761"/>
                </a:solidFill>
                <a:latin typeface="Cambria"/>
              </a:rPr>
              <a:t>Results: Accuracy and Loss</a:t>
            </a:r>
          </a:p>
        </p:txBody>
      </p:sp>
      <p:pic>
        <p:nvPicPr>
          <p:cNvPr id="3" name="Picture 2" descr="accurac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48640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90288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A6070"/>
                </a:solidFill>
                <a:latin typeface="Calibri"/>
              </a:rPr>
              <a:t>Dashed line: weights from epoch 4 restored by early stopping</a:t>
            </a:r>
          </a:p>
        </p:txBody>
      </p:sp>
      <p:pic>
        <p:nvPicPr>
          <p:cNvPr id="5" name="Picture 4" descr="loss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280160"/>
            <a:ext cx="548640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53912" y="4590288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A6070"/>
                </a:solidFill>
                <a:latin typeface="Calibri"/>
              </a:rPr>
              <a:t>Validation loss rises after epoch 4: early stopping prevents overfitting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2468879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99.04%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42432"/>
            <a:ext cx="24688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50749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5120640"/>
            <a:ext cx="2468879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0.9906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5742432"/>
            <a:ext cx="24688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Precision (spam)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50749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5" y="5120640"/>
            <a:ext cx="2468879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0.9375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5" y="5742432"/>
            <a:ext cx="24688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Recall (spam)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3" y="50749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3" y="5120640"/>
            <a:ext cx="2468879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0.9633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3" y="5742432"/>
            <a:ext cx="24688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A6070"/>
                </a:solidFill>
                <a:latin typeface="Calibri"/>
              </a:rPr>
              <a:t>F1-score (spam)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6751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28600">
              <a:spcAft>
                <a:spcPts val="16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Calibri"/>
              </a:rPr>
              <a:t>The RNN (GRU) model detects SMS spam with 99.04% test accuracy and spam F1 0.9633</a:t>
            </a:r>
          </a:p>
          <a:p>
            <a:pPr algn="l" marL="274320" indent="-228600">
              <a:spcAft>
                <a:spcPts val="16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Calibri"/>
              </a:rPr>
              <a:t>Only 1 of 725 legitimate messages was wrongly flagged; 105 of 112 spam caught</a:t>
            </a:r>
          </a:p>
          <a:p>
            <a:pPr algn="l" marL="274320" indent="-228600">
              <a:spcAft>
                <a:spcPts val="16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Calibri"/>
              </a:rPr>
              <a:t>Class weights, dropout and early stopping fixed the baseline's overfitting</a:t>
            </a:r>
          </a:p>
          <a:p>
            <a:pPr algn="l" marL="274320" indent="-228600">
              <a:spcAft>
                <a:spcPts val="16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Calibri"/>
              </a:rPr>
              <a:t>The prediction script labelled 8 of 8 new test messages correctly</a:t>
            </a:r>
          </a:p>
          <a:p>
            <a:pPr algn="l" marL="274320" indent="-228600">
              <a:spcAft>
                <a:spcPts val="1600"/>
              </a:spcAft>
              <a:buChar char="•"/>
            </a:pPr>
            <a:r>
              <a:rPr sz="1800" b="0">
                <a:solidFill>
                  <a:srgbClr val="FFFFFF"/>
                </a:solidFill>
                <a:latin typeface="Calibri"/>
              </a:rPr>
              <a:t>Future work: larger multilingual data, pre-trained embeddings, mobile / web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554480"/>
            <a:ext cx="3840480" cy="1600200"/>
          </a:xfrm>
          <a:prstGeom prst="roundRect">
            <a:avLst>
              <a:gd name="adj" fmla="val 8000"/>
            </a:avLst>
          </a:prstGeom>
          <a:solidFill>
            <a:srgbClr val="2B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64207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99.04%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331720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test accuracy (837 messages)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429000"/>
            <a:ext cx="3840480" cy="1600200"/>
          </a:xfrm>
          <a:prstGeom prst="roundRect">
            <a:avLst>
              <a:gd name="adj" fmla="val 8000"/>
            </a:avLst>
          </a:prstGeom>
          <a:solidFill>
            <a:srgbClr val="2B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3538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0.9633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206240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spam F1-score (target 0.90)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